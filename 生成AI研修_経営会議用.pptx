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eiryo"/>
              </a:rPr>
              <a:t>法人向け生成AI研修サービス　競合調査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63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B8C6DE"/>
                </a:solidFill>
                <a:latin typeface="Meiryo"/>
              </a:rPr>
              <a:t>国内50社の横断比較と、自社の参入ポジション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749039"/>
            <a:ext cx="1463040" cy="41148"/>
          </a:xfrm>
          <a:prstGeom prst="rect">
            <a:avLst/>
          </a:prstGeom>
          <a:solidFill>
            <a:srgbClr val="7E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B8C6DE"/>
                </a:solidFill>
                <a:latin typeface="Meiryo"/>
              </a:rPr>
              <a:t>経営会議資料　／　2026年8月30日　／　所要15分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DA2C4"/>
                </a:solidFill>
                <a:latin typeface="Meiryo"/>
              </a:rPr>
              <a:t>事実・分析・提案をラベルで区別しています。提案は仮説であり、意思決定前に要確認事項の検証が必要です。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F3864"/>
                </a:solidFill>
                <a:latin typeface="Meiryo"/>
              </a:rPr>
              <a:t>本日の結論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3点。詳細は次ページ以降。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529584" cy="329184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529584" cy="54864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848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E5C8A"/>
                </a:solidFill>
                <a:latin typeface="Meiryo"/>
              </a:rPr>
              <a:t>① 価格が見えない市場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30175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50社中、金額を確認できたのは27社。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特に「講師派遣・一社カスタマイズ」は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ほぼ全社が非公開で、企業単位の総額比較が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事実上できない状態にある。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1828800"/>
            <a:ext cx="3529584" cy="329184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828800"/>
            <a:ext cx="3529584" cy="54864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848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E5C8A"/>
                </a:solidFill>
                <a:latin typeface="Meiryo"/>
              </a:rPr>
              <a:t>② 価格は3層に割れている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542032"/>
            <a:ext cx="30175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公的機関 3,300〜24,000円/名。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民間の公開講座 16,800〜33,000円/名。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カスタマイズ型は1社25〜80万円。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公開講座帯は公的機関とほぼ重なる。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1" y="1828800"/>
            <a:ext cx="3520440" cy="329184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828800"/>
            <a:ext cx="352044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3" y="2084832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Meiryo"/>
              </a:rPr>
              <a:t>③ 勝負は「削減時間」へ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2542032"/>
            <a:ext cx="3008376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カリキュラムの内容ではなく、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月2,200時間削減などの定量成果を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実名で示せる社が伸びている。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研修単体では差別化が効かない。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C55A11"/>
                </a:solidFill>
                <a:latin typeface="Meiryo"/>
              </a:rPr>
              <a:t>→ 決めていただきたいのは「どの価格帯で、何を約束して参入するか」の1点です。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eiryo"/>
              </a:rPr>
              <a:t>出典：生成AI研修_競合調査.xlsx／集計サマリー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868680" cy="27432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事実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39" y="329184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F3864"/>
                </a:solidFill>
                <a:latin typeface="Meiryo"/>
              </a:rPr>
              <a:t>調査方法と、この資料の限界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数字を外部に出す前に、この2点を必ず確認してください。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83664"/>
            <a:ext cx="82296" cy="2194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62B33"/>
                </a:solidFill>
                <a:latin typeface="Meiryo"/>
              </a:rPr>
              <a:t>国内50社を4セグメントに分けて並列調査した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大手SIer・研修会社／AI専業・コンサル／eラーニング・人材育成／料金公開の中小・団体系。各15件・計60件を収集し、同一企業の重複掲載10件を統合。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52344"/>
            <a:ext cx="82296" cy="2194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62B33"/>
                </a:solidFill>
                <a:latin typeface="Meiryo"/>
              </a:rPr>
              <a:t>料金が公開されていないものは推測せず「非公開」と記載した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2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金額の推測値は1件も入れていない。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10908792" cy="160020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8A5A00"/>
                </a:solidFill>
                <a:latin typeface="Meiryo"/>
              </a:rPr>
              <a:t>⚠ 制約：外部サイトの本文取得が遮断された環境で調査したため、確認は検索結果ベースです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4A10"/>
                </a:solidFill>
                <a:latin typeface="Meiryo"/>
              </a:rPr>
              <a:t>原文の全文確認はできていません。発注や価格決定に使う数字は、Excelの「要確認事項」シート（81件）に沿って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4A10"/>
                </a:solidFill>
                <a:latin typeface="Meiryo"/>
              </a:rPr>
              <a:t>公式ページの原文を人が確認してから使ってください。この資料の数字は「当たりをつけるための地図」です。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eiryo"/>
              </a:rPr>
              <a:t>出典：生成AI研修_競合調査.xlsx／調査メタ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868680" cy="27432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事実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39" y="329184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F3864"/>
                </a:solidFill>
                <a:latin typeface="Meiryo"/>
              </a:rPr>
              <a:t>市場は、性格の違う4つのタイプに分かれている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同じ「生成AI研修」でも、売っているものが違う。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615184" cy="320040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615184" cy="54864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48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2E5C8A"/>
                </a:solidFill>
                <a:latin typeface="Meiryo"/>
              </a:rPr>
              <a:t>15社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060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262B33"/>
                </a:solidFill>
                <a:latin typeface="Meiryo"/>
              </a:rPr>
              <a:t>大手SIer・研修会社系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91840"/>
            <a:ext cx="21945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生成AI×システム開発。要件定義〜実装、Azure OpenAI、RAG。IT部門向け。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1920240"/>
            <a:ext cx="2615184" cy="320040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920240"/>
            <a:ext cx="2615184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2148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0F766E"/>
                </a:solidFill>
                <a:latin typeface="Meiryo"/>
              </a:rPr>
              <a:t>15社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6060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262B33"/>
                </a:solidFill>
                <a:latin typeface="Meiryo"/>
              </a:rPr>
              <a:t>AI専業・コンサル系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3291840"/>
            <a:ext cx="21945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研修単体では売らない。コンサル・SaaS・開発とセットの伴走支援。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920240"/>
            <a:ext cx="2615184" cy="320040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1920240"/>
            <a:ext cx="2615184" cy="54864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148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2E5C8A"/>
                </a:solidFill>
                <a:latin typeface="Meiryo"/>
              </a:rPr>
              <a:t>13社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6060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262B33"/>
                </a:solidFill>
                <a:latin typeface="Meiryo"/>
              </a:rPr>
              <a:t>eラーニング・人材育成系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291840"/>
            <a:ext cx="21945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既存の学び放題ライブラリに生成AIを1カテゴリとして追加。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24544" y="1920240"/>
            <a:ext cx="2615184" cy="320040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24544" y="1920240"/>
            <a:ext cx="2615184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148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C55A11"/>
                </a:solidFill>
                <a:latin typeface="Meiryo"/>
              </a:rPr>
              <a:t>15社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6060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262B33"/>
                </a:solidFill>
                <a:latin typeface="Meiryo"/>
              </a:rPr>
              <a:t>料金公開・中小/団体系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291840"/>
            <a:ext cx="21945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公的機関と地域の講座。価格が明示され、単発・低単価。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※ 重複統合の結果、eラーニング系のみ13社。自社が戦う相手は、この4つのうちどれかを先に決める必要があります。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eiryo"/>
              </a:rPr>
              <a:t>出典：生成AI研修_競合調査.xlsx／全社一覧・集計サマリー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868680" cy="27432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事実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39" y="329184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F3864"/>
                </a:solidFill>
                <a:latin typeface="Meiryo"/>
              </a:rPr>
              <a:t>50社中23社は、金額がまったく分からない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検討する側から見ると、比較できないまま問い合わせる状態。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888736" cy="6858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28816" y="2011680"/>
            <a:ext cx="5020056" cy="685800"/>
          </a:xfrm>
          <a:prstGeom prst="rect">
            <a:avLst/>
          </a:prstGeom>
          <a:solidFill>
            <a:srgbClr val="E8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金額を確認できた　27社（54%）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2128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6B4A10"/>
                </a:solidFill>
                <a:latin typeface="Meiryo"/>
              </a:rPr>
              <a:t>非公開・要問い合わせ　23社（46%）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18104"/>
            <a:ext cx="82296" cy="2194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62B33"/>
                </a:solidFill>
                <a:latin typeface="Meiryo"/>
              </a:rPr>
              <a:t>非公開が集中しているのは「講師派遣」と「一社カスタマイズ」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19272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公開講座やeラーニングの1名単価は出すが、企業単位の総額は全社が出さない。結果として総額の相場が市場に存在しない。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77055"/>
            <a:ext cx="82296" cy="2194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22191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62B33"/>
                </a:solidFill>
                <a:latin typeface="Meiryo"/>
              </a:rPr>
              <a:t>AI専業・コンサル系は15社中12社が非公開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78224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研修を単体商品ではなく、コンサル・開発とセットの個社見積りとして売っているため。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36007"/>
            <a:ext cx="82296" cy="2194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81144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62B33"/>
                </a:solidFill>
                <a:latin typeface="Meiryo"/>
              </a:rPr>
              <a:t>公的機関だけは全件が価格を明示している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37176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中小企業大学校、JEED、商工会議所。ここが実質的な価格の基準線になっている。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eiryo"/>
              </a:rPr>
              <a:t>出典：生成AI研修_競合調査.xlsx／全社一覧（料金列の黄色セル）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868680" cy="27432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事実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39" y="329184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F3864"/>
                </a:solidFill>
                <a:latin typeface="Meiryo"/>
              </a:rPr>
              <a:t>確認できた価格は、3つの帯にきれいに分かれる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1名あたり単価と、1社あたり総額は別の市場。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3108960" cy="566928"/>
          </a:xfrm>
          <a:prstGeom prst="rect">
            <a:avLst/>
          </a:prstGeom>
          <a:solidFill>
            <a:srgbClr val="4A9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公的機関　3,300〜24,000円 / 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212848"/>
            <a:ext cx="7543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JEED・中小企業大学校・商工会議所。中央値は概ね22,000円。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5120640" cy="566928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089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民間の公開講座　16,800〜33,000円 / 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127248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リスキル・インソース・トレノケート等。公的上限とほぼ重なる帯。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86200"/>
            <a:ext cx="7680960" cy="56692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23360"/>
            <a:ext cx="7223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カスタマイズ・伴走型　25万〜80万円 / 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041648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Winスクール・インターネットアカデミー等。1名単価に直すと10倍前後に跳ねる。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29200"/>
            <a:ext cx="10908792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30368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1">
                <a:solidFill>
                  <a:srgbClr val="262B33"/>
                </a:solidFill>
                <a:latin typeface="Meiryo"/>
              </a:rPr>
              <a:t>注目点：民間の公開講座（16,800〜33,000円）は、公的機関の上限（24,000円）とほぼ同じ帯に収まっている。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1">
                <a:solidFill>
                  <a:srgbClr val="262B33"/>
                </a:solidFill>
                <a:latin typeface="Meiryo"/>
              </a:rPr>
              <a:t>つまり「1名単価で戦う」と、税金が原資の公的機関と正面衝突する構造になっている。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eiryo"/>
              </a:rPr>
              <a:t>出典：生成AI研修_競合調査.xlsx／価格帯_自動抽出（金額は自動抽出。原文列で要確認）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868680" cy="27432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事実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39" y="329184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F3864"/>
                </a:solidFill>
                <a:latin typeface="Meiryo"/>
              </a:rPr>
              <a:t>狙っている顧客層は、大きく2つに割れている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どちらを取るかで、必要な講師も教材もまったく変わる。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394960" cy="320040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394960" cy="54864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176272"/>
            <a:ext cx="48828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E5C8A"/>
                </a:solidFill>
                <a:latin typeface="Meiryo"/>
              </a:rPr>
              <a:t>A：非IT職の底上げ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33472"/>
            <a:ext cx="488289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営業・企画・管理部門の全社員が対象。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・テーマはプロンプト、文書作成、議事録、Excel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・単価は安く、人数で稼ぐ構造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・研修会社系（インソース、リスキル、産能大）と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　公的機関がここに集中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・生成AIパスポートなど資格対策も同じ層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3912" y="1920240"/>
            <a:ext cx="5394960" cy="320040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920240"/>
            <a:ext cx="539496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2176272"/>
            <a:ext cx="48828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Meiryo"/>
              </a:rPr>
              <a:t>B：IT職・DX推進部門の実装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633472"/>
            <a:ext cx="488289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エンジニア、情シス、DX推進担当が対象。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・テーマはRAG、Agent、Azure OpenAI、API開発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・単価は高く、少人数・伴走型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・SIer系（日立、富士通、NTTデータ、CTC）と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　AI専業がここに集中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・PoC支援まで含めて3〜6ヶ月の契約になりやすい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※ 両方を同じ商品で狙っている社は、調査した範囲では見当たりませんでした。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eiryo"/>
              </a:rPr>
              <a:t>出典：生成AI研修_競合調査.xlsx／全社一覧（対象者・研修テーマ列）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868680" cy="27432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事実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39" y="329184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F3864"/>
                </a:solidFill>
                <a:latin typeface="Meiryo"/>
              </a:rPr>
              <a:t>研修テーマは、ほぼ全社が同じ並びになっている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内容そのものでは差がつかない。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52044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671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62B33"/>
                </a:solidFill>
                <a:latin typeface="Meiryo"/>
              </a:rPr>
              <a:t>生成AIリテラシー・基礎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1965960"/>
            <a:ext cx="352044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21671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62B33"/>
                </a:solidFill>
                <a:latin typeface="Meiryo"/>
              </a:rPr>
              <a:t>プロンプトエンジニアリング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0144" y="1965960"/>
            <a:ext cx="352044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21671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62B33"/>
                </a:solidFill>
                <a:latin typeface="Meiryo"/>
              </a:rPr>
              <a:t>業務効率化（文書・議事録・Excel）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34639"/>
            <a:ext cx="352044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62B33"/>
                </a:solidFill>
                <a:latin typeface="Meiryo"/>
              </a:rPr>
              <a:t>ChatGPT / Copilot 活用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2834639"/>
            <a:ext cx="352044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62B33"/>
                </a:solidFill>
                <a:latin typeface="Meiryo"/>
              </a:rPr>
              <a:t>セキュリティ・情報漏洩対策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4" y="2834639"/>
            <a:ext cx="352044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62B33"/>
                </a:solidFill>
                <a:latin typeface="Meiryo"/>
              </a:rPr>
              <a:t>社内ルール・ガイドライン策定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03320"/>
            <a:ext cx="352044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904487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62B33"/>
                </a:solidFill>
                <a:latin typeface="Meiryo"/>
              </a:rPr>
              <a:t>RAG・社内データ活用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5112" y="3703320"/>
            <a:ext cx="352044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3904487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62B33"/>
                </a:solidFill>
                <a:latin typeface="Meiryo"/>
              </a:rPr>
              <a:t>AI Agent・業務自動化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10144" y="3703320"/>
            <a:ext cx="352044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5" y="3904487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62B33"/>
                </a:solidFill>
                <a:latin typeface="Meiryo"/>
              </a:rPr>
              <a:t>経営層・管理職向けリテラシー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54880"/>
            <a:ext cx="10908792" cy="1280160"/>
          </a:xfrm>
          <a:prstGeom prst="rect">
            <a:avLst/>
          </a:prstGeom>
          <a:solidFill>
            <a:srgbClr val="E7F3F1"/>
          </a:solidFill>
          <a:ln w="12700">
            <a:solidFill>
              <a:srgbClr val="8FC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834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1">
                <a:solidFill>
                  <a:srgbClr val="0F5C56"/>
                </a:solidFill>
                <a:latin typeface="Meiryo"/>
              </a:rPr>
              <a:t>差がついているのは「テーマ」ではなく、その後の設計です。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1">
                <a:solidFill>
                  <a:srgbClr val="0F5C56"/>
                </a:solidFill>
                <a:latin typeface="Meiryo"/>
              </a:rPr>
              <a:t>自社データを使ったPoC伴走（スキルアップAI「道場」3〜4ヶ月）、助成金の申請代行、受講後の定着支援。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eiryo"/>
              </a:rPr>
              <a:t>出典：生成AI研修_競合調査.xlsx／全社一覧（研修テーマ列の頻出語）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868680" cy="27432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39" y="329184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F3864"/>
                </a:solidFill>
                <a:latin typeface="Meiryo"/>
              </a:rPr>
              <a:t>競合が満たせていない需要は、3つある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ここから先は、事実をもとにした解釈です。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75104"/>
            <a:ext cx="82296" cy="2194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62B33"/>
                </a:solidFill>
                <a:latin typeface="Meiryo"/>
              </a:rPr>
              <a:t>① 総額が最初から分かる、中小企業向けのパッケージ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大手は全社が個社見積り。中小企業は「いくらか分からない相手」に問い合わせる時間がない。価格を先に出すだけで検討リストに残れる。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26664"/>
            <a:ext cx="82296" cy="2194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62B33"/>
                </a:solidFill>
                <a:latin typeface="Meiryo"/>
              </a:rPr>
              <a:t>② 研修後の「定着」を担保する仕組み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27832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受講して終わりの単発講座が大半。導入事例を公開している社（SIGNATE 1,200社超、スキルアップAI 950社超）はごく一部で、定着の証明は市場全体で弱い。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78224"/>
            <a:ext cx="82296" cy="2194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62B33"/>
                </a:solidFill>
                <a:latin typeface="Meiryo"/>
              </a:rPr>
              <a:t>③ 非IT職向けで、かつ自社業務に踏み込む内容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79392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安い層は汎用的なプロンプト講座、深い層はIT職向け。「営業部の見積書作成を、その会社のフォーマットで」という中間が空いている。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eiryo"/>
              </a:rPr>
              <a:t>分析＝調査結果からの解釈。事実の裏付けはExcelの全社一覧を参照。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868680" cy="27432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39" y="329184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F3864"/>
                </a:solidFill>
                <a:latin typeface="Meiryo"/>
              </a:rPr>
              <a:t>選ばれる理由が「カリキュラム」から「削減時間」に移った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伸びている社は、成果を実名の数字で出している。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2615184" cy="169164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2615184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3317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0F766E"/>
                </a:solidFill>
                <a:latin typeface="Meiryo"/>
              </a:rPr>
              <a:t>月2,200時間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834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262B33"/>
                </a:solidFill>
                <a:latin typeface="Meiryo"/>
              </a:rPr>
              <a:t>削減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0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キリンHD／AVILEN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1965960"/>
            <a:ext cx="2615184" cy="169164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965960"/>
            <a:ext cx="2615184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23317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0F766E"/>
                </a:solidFill>
                <a:latin typeface="Meiryo"/>
              </a:rPr>
              <a:t>月650時間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834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262B33"/>
                </a:solidFill>
                <a:latin typeface="Meiryo"/>
              </a:rPr>
              <a:t>削減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3200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AlgoX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965960"/>
            <a:ext cx="2615184" cy="169164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1965960"/>
            <a:ext cx="2615184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3317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0F766E"/>
                </a:solidFill>
                <a:latin typeface="Meiryo"/>
              </a:rPr>
              <a:t>24時間 → 10秒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834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262B33"/>
                </a:solidFill>
                <a:latin typeface="Meiryo"/>
              </a:rPr>
              <a:t>短縮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200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AX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24544" y="1965960"/>
            <a:ext cx="2615184" cy="169164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24544" y="1965960"/>
            <a:ext cx="2615184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3317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0F766E"/>
                </a:solidFill>
                <a:latin typeface="Meiryo"/>
              </a:rPr>
              <a:t>継続率 94.7%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834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262B33"/>
                </a:solidFill>
                <a:latin typeface="Meiryo"/>
              </a:rPr>
              <a:t>1,200社超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200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SIGNATE Cloud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931920"/>
            <a:ext cx="10908792" cy="1737360"/>
          </a:xfrm>
          <a:prstGeom prst="rect">
            <a:avLst/>
          </a:prstGeom>
          <a:solidFill>
            <a:srgbClr val="E7F3F1"/>
          </a:solidFill>
          <a:ln w="12700">
            <a:solidFill>
              <a:srgbClr val="8FC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0624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1">
                <a:solidFill>
                  <a:srgbClr val="0F5C56"/>
                </a:solidFill>
                <a:latin typeface="Meiryo"/>
              </a:rPr>
              <a:t>意味すること：買い手の判断基準が「何を教えてくれるか」から「いくら得をするか」に変わった。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1">
                <a:solidFill>
                  <a:srgbClr val="0F5C56"/>
                </a:solidFill>
                <a:latin typeface="Meiryo"/>
              </a:rPr>
              <a:t/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1">
                <a:solidFill>
                  <a:srgbClr val="0F5C56"/>
                </a:solidFill>
                <a:latin typeface="Meiryo"/>
              </a:rPr>
              <a:t>→ 参入するなら、初回提案の時点で「削減できる時間の試算」を出せる設計にしておく必要がある。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1">
                <a:solidFill>
                  <a:srgbClr val="0F5C56"/>
                </a:solidFill>
                <a:latin typeface="Meiryo"/>
              </a:rPr>
              <a:t>　 これは研修の中身より、受講前の業務ヒアリングの型を持っているかどうかで決まる。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eiryo"/>
              </a:rPr>
              <a:t>出典：各社公式サイトの公開事例（Excel／全社一覧・導入事例列）。数値は各社の自社発表。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868680" cy="27432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39" y="329184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F3864"/>
                </a:solidFill>
                <a:latin typeface="Meiryo"/>
              </a:rPr>
              <a:t>空いているのは「価格が見えて、業務に踏み込む」領域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縦：価格の透明性　横：業務への踏み込み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920240"/>
            <a:ext cx="7498079" cy="3749039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79" y="1920240"/>
            <a:ext cx="10972" cy="3749039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40" y="3794760"/>
            <a:ext cx="7498079" cy="10972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B7280"/>
                </a:solidFill>
                <a:latin typeface="Meiryo"/>
              </a:rPr>
              <a:t>価格を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B7280"/>
                </a:solidFill>
                <a:latin typeface="Meiryo"/>
              </a:rPr>
              <a:t>公開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2064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B7280"/>
                </a:solidFill>
                <a:latin typeface="Meiryo"/>
              </a:rPr>
              <a:t>価格は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B7280"/>
                </a:solidFill>
                <a:latin typeface="Meiryo"/>
              </a:rPr>
              <a:t>非公開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58064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B7280"/>
                </a:solidFill>
                <a:latin typeface="Meiryo"/>
              </a:rPr>
              <a:t>汎用（座学中心）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58064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B7280"/>
                </a:solidFill>
                <a:latin typeface="Meiryo"/>
              </a:rPr>
              <a:t>自社業務に踏み込む（伴走）</a:t>
            </a:r>
          </a:p>
        </p:txBody>
      </p:sp>
      <p:sp>
        <p:nvSpPr>
          <p:cNvPr id="14" name="Oval 13"/>
          <p:cNvSpPr/>
          <p:nvPr/>
        </p:nvSpPr>
        <p:spPr>
          <a:xfrm>
            <a:off x="2834640" y="2240280"/>
            <a:ext cx="182880" cy="182880"/>
          </a:xfrm>
          <a:prstGeom prst="ellipse">
            <a:avLst/>
          </a:prstGeom>
          <a:solidFill>
            <a:srgbClr val="4A9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13055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4A90A4"/>
                </a:solidFill>
                <a:latin typeface="Meiryo"/>
              </a:rPr>
              <a:t>公的機関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4A90A4"/>
                </a:solidFill>
                <a:latin typeface="Meiryo"/>
              </a:rPr>
              <a:t>中小大学校・JEED</a:t>
            </a:r>
          </a:p>
        </p:txBody>
      </p:sp>
      <p:sp>
        <p:nvSpPr>
          <p:cNvPr id="16" name="Oval 15"/>
          <p:cNvSpPr/>
          <p:nvPr/>
        </p:nvSpPr>
        <p:spPr>
          <a:xfrm>
            <a:off x="4206240" y="2880360"/>
            <a:ext cx="182880" cy="18288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277063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2E5C8A"/>
                </a:solidFill>
                <a:latin typeface="Meiryo"/>
              </a:rPr>
              <a:t>民間の公開講座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2E5C8A"/>
                </a:solidFill>
                <a:latin typeface="Meiryo"/>
              </a:rPr>
              <a:t>リスキル・インソース</a:t>
            </a:r>
          </a:p>
        </p:txBody>
      </p:sp>
      <p:sp>
        <p:nvSpPr>
          <p:cNvPr id="18" name="Oval 17"/>
          <p:cNvSpPr/>
          <p:nvPr/>
        </p:nvSpPr>
        <p:spPr>
          <a:xfrm>
            <a:off x="2926080" y="4480560"/>
            <a:ext cx="182880" cy="182880"/>
          </a:xfrm>
          <a:prstGeom prst="ellipse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82112" y="437083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8A8F98"/>
                </a:solidFill>
                <a:latin typeface="Meiryo"/>
              </a:rPr>
              <a:t>eラーニング定額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8A8F98"/>
                </a:solidFill>
                <a:latin typeface="Meiryo"/>
              </a:rPr>
              <a:t>AirCourse・学び放題</a:t>
            </a:r>
          </a:p>
        </p:txBody>
      </p:sp>
      <p:sp>
        <p:nvSpPr>
          <p:cNvPr id="20" name="Oval 19"/>
          <p:cNvSpPr/>
          <p:nvPr/>
        </p:nvSpPr>
        <p:spPr>
          <a:xfrm>
            <a:off x="8138160" y="4709160"/>
            <a:ext cx="182880" cy="182880"/>
          </a:xfrm>
          <a:prstGeom prst="ellipse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459943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8A8F98"/>
                </a:solidFill>
                <a:latin typeface="Meiryo"/>
              </a:rPr>
              <a:t>AI専業・コンサル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8A8F98"/>
                </a:solidFill>
                <a:latin typeface="Meiryo"/>
              </a:rPr>
              <a:t>AVILEN・AX・SIGNATE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0" y="3931920"/>
            <a:ext cx="182880" cy="182880"/>
          </a:xfrm>
          <a:prstGeom prst="ellipse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3822191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8A8F98"/>
                </a:solidFill>
                <a:latin typeface="Meiryo"/>
              </a:rPr>
              <a:t>SIer系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8A8F98"/>
                </a:solidFill>
                <a:latin typeface="Meiryo"/>
              </a:rPr>
              <a:t>日立・富士通・CTC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2148840"/>
            <a:ext cx="2651760" cy="1234440"/>
          </a:xfrm>
          <a:prstGeom prst="roundRect">
            <a:avLst/>
          </a:prstGeom>
          <a:noFill/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237744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C55A11"/>
                </a:solidFill>
                <a:latin typeface="Meiryo"/>
              </a:rPr>
              <a:t>空いている領域</a:t>
            </a:r>
          </a:p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C55A11"/>
                </a:solidFill>
                <a:latin typeface="Meiryo"/>
              </a:rPr>
              <a:t>価格が見えて、</a:t>
            </a:r>
          </a:p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C55A11"/>
                </a:solidFill>
                <a:latin typeface="Meiryo"/>
              </a:rPr>
              <a:t>業務に踏み込む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eiryo"/>
              </a:rPr>
              <a:t>分析＝調査結果からの解釈。配置は公開情報にもとづく相対評価であり、厳密な指標ではありません。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868680" cy="274320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提案（仮説）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39" y="329184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F3864"/>
                </a:solidFill>
                <a:latin typeface="Meiryo"/>
              </a:rPr>
              <a:t>狙うべきは「中小企業 × 非IT職 × 価格明示 × 伴走」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前提：中小企業向けに新規参入する場合の仮説です。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529584" cy="310896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529584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17627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C55A11"/>
                </a:solidFill>
                <a:latin typeface="Meiryo"/>
              </a:rPr>
              <a:t>誰に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33472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従業員50〜500名の企業。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情シス専任がいない、または1〜2名。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意思決定者は経営者・管理部門長。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大手SIerの見積りは高すぎ、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公的機関の単発講座では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業務が変わらなかった層。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920240"/>
            <a:ext cx="3529584" cy="310896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920240"/>
            <a:ext cx="3529584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7627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C55A11"/>
                </a:solidFill>
                <a:latin typeface="Meiryo"/>
              </a:rPr>
              <a:t>何を約束するか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33472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「研修を提供する」ではなく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「◯◯業務の時間を月◯時間減らす」。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受講前に業務ヒアリングを行い、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削減時間の試算を提案書に載せる。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研修は自社の実データ・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実フォーマットで行う。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8431" y="1920240"/>
            <a:ext cx="3520440" cy="310896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1920240"/>
            <a:ext cx="3520440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2176272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C55A11"/>
                </a:solidFill>
                <a:latin typeface="Meiryo"/>
              </a:rPr>
              <a:t>どう違うと言えるか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633472"/>
            <a:ext cx="300837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① 総額を公式サイトに明示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（46%が非公開の市場で効く）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② 助成金の申請までセットで支援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（多くが訴求のみで実務は非対応）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③ 研修後90日の定着支援を標準化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8A5A00"/>
                </a:solidFill>
                <a:latin typeface="Meiryo"/>
              </a:rPr>
              <a:t>⚠ ここから3枚は仮説です。根拠はExcelの全社一覧ですが、実行前に顧客数社への確認が必要です。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eiryo"/>
              </a:rPr>
              <a:t>仮説／根拠：生成AI研修_競合調査.xlsx（全社一覧・価格帯_自動抽出）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868680" cy="274320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提案（仮説）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39" y="329184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F3864"/>
                </a:solidFill>
                <a:latin typeface="Meiryo"/>
              </a:rPr>
              <a:t>推奨価格：1社パッケージ 45万円（税別・20名まで）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1名単価で戦わず、1社総額で見せる。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0908792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262B33"/>
                </a:solidFill>
                <a:latin typeface="Meiryo"/>
              </a:rPr>
              <a:t>入門パック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1031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262B33"/>
                </a:solidFill>
                <a:latin typeface="Meiryo"/>
              </a:rPr>
              <a:t>25万円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221991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半日研修＋90日の質問対応。他社の1社型下限（Winスクール25万円）に合わせる。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72968"/>
            <a:ext cx="10908792" cy="1051560"/>
          </a:xfrm>
          <a:prstGeom prst="rect">
            <a:avLst/>
          </a:prstGeom>
          <a:solidFill>
            <a:srgbClr val="FFF4E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558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C55A11"/>
                </a:solidFill>
                <a:latin typeface="Meiryo"/>
              </a:rPr>
              <a:t>標準パック（推奨）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310127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C55A11"/>
                </a:solidFill>
                <a:latin typeface="Meiryo"/>
              </a:rPr>
              <a:t>45万円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42900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業務ヒアリング＋1日研修＋定着支援90日＋助成金申請支援。1名あたり22,500円で公開講座帯と同水準に見える。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79976"/>
            <a:ext cx="10908792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6285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262B33"/>
                </a:solidFill>
                <a:latin typeface="Meiryo"/>
              </a:rPr>
              <a:t>伴走パック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51713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262B33"/>
                </a:solidFill>
                <a:latin typeface="Meiryo"/>
              </a:rPr>
              <a:t>120万円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636008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3ヶ月の伴走。AI専業の個社見積り帯に対し、総額を明示することで比較検討に残る。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623560"/>
            <a:ext cx="10908792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77900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62B33"/>
                </a:solidFill>
                <a:latin typeface="Meiryo"/>
              </a:rPr>
              <a:t>根拠：1名単価では公的機関（〜24,000円）と正面衝突するため、総額×成果保証で比較の土俵をずらす。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eiryo"/>
              </a:rPr>
              <a:t>仮説／根拠：価格帯_自動抽出シート（自動抽出値のため、原文の再確認が前提）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868680" cy="274320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39" y="329184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F3864"/>
                </a:solidFill>
                <a:latin typeface="Meiryo"/>
              </a:rPr>
              <a:t>ご決定いただきたいこと、と次の30日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9496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94960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84832"/>
            <a:ext cx="48828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C55A11"/>
                </a:solidFill>
                <a:latin typeface="Meiryo"/>
              </a:rPr>
              <a:t>本日ご決定いただきたい1点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88289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A：中小企業×非IT職に、総額明示で参入する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B：既存顧客のIT部門向けに、伴走型で参入する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→ AとBでは、必要な講師も教材も価格も別物です。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828800"/>
            <a:ext cx="539496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1828800"/>
            <a:ext cx="539496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2084832"/>
            <a:ext cx="48828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Meiryo"/>
              </a:rPr>
              <a:t>決定後30日でやること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542032"/>
            <a:ext cx="488289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1週目：要確認事項81件のうち、競合上位10社を検証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2週目：想定顧客3社にヒアリング（価格と困りごと）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3週目：標準パックの教材と削減時間の試算シートを作成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262B33"/>
                </a:solidFill>
                <a:latin typeface="Meiryo"/>
              </a:rPr>
              <a:t>4週目：助成金の申請要件を確認し、提案書を1本作る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77639"/>
            <a:ext cx="10908792" cy="123444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1">
                <a:solidFill>
                  <a:srgbClr val="8A5A00"/>
                </a:solidFill>
                <a:latin typeface="Meiryo"/>
              </a:rPr>
              <a:t>先に潰すべきリスク：この調査の価格情報は検索結果ベースで、原文の全文確認ができていません。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1">
                <a:solidFill>
                  <a:srgbClr val="8A5A00"/>
                </a:solidFill>
                <a:latin typeface="Meiryo"/>
              </a:rPr>
              <a:t>価格を決める前に、比較対象にする10社だけは公式ページの原文を人が確認してください（1〜2時間で終わります）。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Meiryo"/>
              </a:rPr>
              <a:t>以上です。ご質問をお願いします。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eiryo"/>
              </a:rPr>
              <a:t>出典：生成AI研修_競合調査.xlsx（全5シート）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